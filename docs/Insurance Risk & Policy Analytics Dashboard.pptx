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63" r:id="rId8"/>
    <p:sldId id="259" r:id="rId9"/>
    <p:sldId id="262" r:id="rId10"/>
    <p:sldId id="260" r:id="rId11"/>
    <p:sldId id="261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AY THAKUR" userId="01e15bd25dac64f4" providerId="LiveId" clId="{F1AF9500-2F03-4741-869C-1C8E77EB6A54}"/>
    <pc:docChg chg="undo custSel addSld modSld">
      <pc:chgData name="ABHAY THAKUR" userId="01e15bd25dac64f4" providerId="LiveId" clId="{F1AF9500-2F03-4741-869C-1C8E77EB6A54}" dt="2026-10-04T23:56:54.623" v="47" actId="26606"/>
      <pc:docMkLst>
        <pc:docMk/>
      </pc:docMkLst>
      <pc:sldChg chg="addSp delSp modSp new mod setBg">
        <pc:chgData name="ABHAY THAKUR" userId="01e15bd25dac64f4" providerId="LiveId" clId="{F1AF9500-2F03-4741-869C-1C8E77EB6A54}" dt="2026-10-04T23:56:54.623" v="47" actId="26606"/>
        <pc:sldMkLst>
          <pc:docMk/>
          <pc:sldMk cId="3339278587" sldId="264"/>
        </pc:sldMkLst>
        <pc:spChg chg="add del mod">
          <ac:chgData name="ABHAY THAKUR" userId="01e15bd25dac64f4" providerId="LiveId" clId="{F1AF9500-2F03-4741-869C-1C8E77EB6A54}" dt="2026-10-04T23:56:54.623" v="47" actId="26606"/>
          <ac:spMkLst>
            <pc:docMk/>
            <pc:sldMk cId="3339278587" sldId="264"/>
            <ac:spMk id="2" creationId="{EA51303E-CCE8-D5D9-38EF-5767C35D3B3C}"/>
          </ac:spMkLst>
        </pc:spChg>
        <pc:spChg chg="del mod">
          <ac:chgData name="ABHAY THAKUR" userId="01e15bd25dac64f4" providerId="LiveId" clId="{F1AF9500-2F03-4741-869C-1C8E77EB6A54}" dt="2026-10-04T23:56:51.133" v="44" actId="478"/>
          <ac:spMkLst>
            <pc:docMk/>
            <pc:sldMk cId="3339278587" sldId="264"/>
            <ac:spMk id="3" creationId="{4218B053-1AB9-6906-9641-F7D7E3856FDE}"/>
          </ac:spMkLst>
        </pc:spChg>
        <pc:spChg chg="add del mod">
          <ac:chgData name="ABHAY THAKUR" userId="01e15bd25dac64f4" providerId="LiveId" clId="{F1AF9500-2F03-4741-869C-1C8E77EB6A54}" dt="2026-10-04T23:56:43.342" v="43" actId="478"/>
          <ac:spMkLst>
            <pc:docMk/>
            <pc:sldMk cId="3339278587" sldId="264"/>
            <ac:spMk id="5" creationId="{3EB7BD0D-C116-6798-3190-170DE5783F07}"/>
          </ac:spMkLst>
        </pc:spChg>
        <pc:spChg chg="add del">
          <ac:chgData name="ABHAY THAKUR" userId="01e15bd25dac64f4" providerId="LiveId" clId="{F1AF9500-2F03-4741-869C-1C8E77EB6A54}" dt="2026-10-04T23:56:54.598" v="46" actId="26606"/>
          <ac:spMkLst>
            <pc:docMk/>
            <pc:sldMk cId="3339278587" sldId="264"/>
            <ac:spMk id="9" creationId="{19F9BF86-FE94-4517-B97D-026C7515E589}"/>
          </ac:spMkLst>
        </pc:spChg>
        <pc:spChg chg="add">
          <ac:chgData name="ABHAY THAKUR" userId="01e15bd25dac64f4" providerId="LiveId" clId="{F1AF9500-2F03-4741-869C-1C8E77EB6A54}" dt="2026-10-04T23:56:54.623" v="47" actId="26606"/>
          <ac:spMkLst>
            <pc:docMk/>
            <pc:sldMk cId="3339278587" sldId="264"/>
            <ac:spMk id="14" creationId="{19F9BF86-FE94-4517-B97D-026C7515E589}"/>
          </ac:spMkLst>
        </pc:spChg>
        <pc:cxnChg chg="add del">
          <ac:chgData name="ABHAY THAKUR" userId="01e15bd25dac64f4" providerId="LiveId" clId="{F1AF9500-2F03-4741-869C-1C8E77EB6A54}" dt="2026-10-04T23:56:54.598" v="46" actId="26606"/>
          <ac:cxnSpMkLst>
            <pc:docMk/>
            <pc:sldMk cId="3339278587" sldId="264"/>
            <ac:cxnSpMk id="7" creationId="{118E06E4-607B-144B-382B-AD3D06B1EE8C}"/>
          </ac:cxnSpMkLst>
        </pc:cxnChg>
        <pc:cxnChg chg="add del">
          <ac:chgData name="ABHAY THAKUR" userId="01e15bd25dac64f4" providerId="LiveId" clId="{F1AF9500-2F03-4741-869C-1C8E77EB6A54}" dt="2026-10-04T23:56:54.598" v="46" actId="26606"/>
          <ac:cxnSpMkLst>
            <pc:docMk/>
            <pc:sldMk cId="3339278587" sldId="264"/>
            <ac:cxnSpMk id="11" creationId="{59D7B6BE-A4E0-4483-BEC5-493AC3E5D2AD}"/>
          </ac:cxnSpMkLst>
        </pc:cxnChg>
        <pc:cxnChg chg="add">
          <ac:chgData name="ABHAY THAKUR" userId="01e15bd25dac64f4" providerId="LiveId" clId="{F1AF9500-2F03-4741-869C-1C8E77EB6A54}" dt="2026-10-04T23:56:54.623" v="47" actId="26606"/>
          <ac:cxnSpMkLst>
            <pc:docMk/>
            <pc:sldMk cId="3339278587" sldId="264"/>
            <ac:cxnSpMk id="13" creationId="{118E06E4-607B-144B-382B-AD3D06B1EE8C}"/>
          </ac:cxnSpMkLst>
        </pc:cxnChg>
        <pc:cxnChg chg="add">
          <ac:chgData name="ABHAY THAKUR" userId="01e15bd25dac64f4" providerId="LiveId" clId="{F1AF9500-2F03-4741-869C-1C8E77EB6A54}" dt="2026-10-04T23:56:54.623" v="47" actId="26606"/>
          <ac:cxnSpMkLst>
            <pc:docMk/>
            <pc:sldMk cId="3339278587" sldId="264"/>
            <ac:cxnSpMk id="15" creationId="{5E10C1D6-7EDE-467F-89EA-E0244EB6238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8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2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06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1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2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8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4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36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5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52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25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018924-E5ED-2992-A4D5-CA520FEAC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 dirty="0"/>
              <a:t>"Insurance Risk &amp; Policy Analytics Dashboard"</a:t>
            </a:r>
            <a:endParaRPr lang="en-CA" sz="4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C1A96-795E-8649-6359-B7454C9D3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r>
              <a:rPr lang="en-US" dirty="0"/>
              <a:t>By: Abhay Singh Thakur</a:t>
            </a:r>
            <a:endParaRPr lang="en-CA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Magnifying glass showing decling performance">
            <a:extLst>
              <a:ext uri="{FF2B5EF4-FFF2-40B4-BE49-F238E27FC236}">
                <a16:creationId xmlns:a16="http://schemas.microsoft.com/office/drawing/2014/main" id="{CBFCF7B4-BAD8-2A4B-4D1A-3878C0DA75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14" r="22834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83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85EB-4C37-40F4-CE88-11BC0C99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2168B-89AC-3531-D223-AE7CE0929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81963"/>
            <a:ext cx="9605356" cy="2129721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create interactive dashboards that help the insurance company understand its customers better, manage risks effectively, and improve decision-making using data insights.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38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4B178-C526-A8A0-A211-08B3023D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Objective 1: </a:t>
            </a:r>
            <a:b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do customer demographics influence insurance choices?</a:t>
            </a:r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0E90C70-DC53-9649-D12D-6E42639A63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633236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What is the average premium amount across different age groups?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Which occupations tend to invest in higher insurance premiums?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does education level influence the type of insurance products owned?</a:t>
            </a:r>
          </a:p>
        </p:txBody>
      </p:sp>
      <p:pic>
        <p:nvPicPr>
          <p:cNvPr id="6" name="Picture 5" descr="Angled shot of pen on a graph">
            <a:extLst>
              <a:ext uri="{FF2B5EF4-FFF2-40B4-BE49-F238E27FC236}">
                <a16:creationId xmlns:a16="http://schemas.microsoft.com/office/drawing/2014/main" id="{45E8BBAB-31A1-F8E1-3A84-96AFBCB9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3" r="44956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41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ADDC1-BEF7-95DF-A1F6-1553E061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close-up of a chart&#10;&#10;AI-generated content may be incorrect.">
            <a:extLst>
              <a:ext uri="{FF2B5EF4-FFF2-40B4-BE49-F238E27FC236}">
                <a16:creationId xmlns:a16="http://schemas.microsoft.com/office/drawing/2014/main" id="{59EA6952-34A8-B37B-523F-1C318B259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9" b="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5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A4405-AF8E-C083-CBCF-7523EC67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89803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Objective 2: </a:t>
            </a:r>
            <a:b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What patterns exist between customer risk levels and their claim behavior?</a:t>
            </a:r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28A3D2C-F6C8-B5D2-57A1-DC7E89910D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2811517"/>
            <a:ext cx="5852160" cy="3664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 customers with lower credit scores file more claims?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How does the risk profile affect the number of claims made?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Are specific life events (like job change or childbirth) linked to higher-risk customers?</a:t>
            </a:r>
          </a:p>
        </p:txBody>
      </p:sp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B8CF78E2-5A49-578C-DCE2-710B80CFF3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36" r="35294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87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F1BBB-E809-6A6B-DDFC-050F218EC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 descr="A screenshot of a graph&#10;&#10;AI-generated content may be incorrect.">
            <a:extLst>
              <a:ext uri="{FF2B5EF4-FFF2-40B4-BE49-F238E27FC236}">
                <a16:creationId xmlns:a16="http://schemas.microsoft.com/office/drawing/2014/main" id="{299C10B5-5BD5-8DE9-E5E1-C079EDA93A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" r="1" b="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2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83C2A-4F5B-8C46-361E-C6EBED4C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83479"/>
            <a:ext cx="5852160" cy="1097280"/>
          </a:xfrm>
        </p:spPr>
        <p:txBody>
          <a:bodyPr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Objective 3: 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How do customer preferences vary when it comes to communication and contact methods?</a:t>
            </a:r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F5FC-1B8A-8183-3C40-9A46EB44E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57522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most preferred communication channel (email, text, in-person)?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contact time preferred (morning, afternoon, weekend) 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there a trend in language preference based on region or customer group?</a:t>
            </a:r>
          </a:p>
          <a:p>
            <a:pPr marL="0" indent="0">
              <a:buNone/>
            </a:pPr>
            <a:endParaRPr lang="en-CA" dirty="0"/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1805DA3F-6C47-F353-AD01-425339FB02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81" r="22590" b="2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37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02D8817E-D8DF-6C2A-1EBE-291C80740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1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1303E-CCE8-D5D9-38EF-5767C35D3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Thank you!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27858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9E9FA11C4D44180E6DE337098D732" ma:contentTypeVersion="9" ma:contentTypeDescription="Create a new document." ma:contentTypeScope="" ma:versionID="0c5d558b7510cdc4ef3c3fba13d4a96f">
  <xsd:schema xmlns:xsd="http://www.w3.org/2001/XMLSchema" xmlns:xs="http://www.w3.org/2001/XMLSchema" xmlns:p="http://schemas.microsoft.com/office/2006/metadata/properties" xmlns:ns3="74b4a50c-b9ed-43fd-8758-f8a292ceab01" targetNamespace="http://schemas.microsoft.com/office/2006/metadata/properties" ma:root="true" ma:fieldsID="2c436242e366f5d6b7adde77dfa45623" ns3:_="">
    <xsd:import namespace="74b4a50c-b9ed-43fd-8758-f8a292ceab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b4a50c-b9ed-43fd-8758-f8a292ceab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4b4a50c-b9ed-43fd-8758-f8a292ceab01" xsi:nil="true"/>
  </documentManagement>
</p:properties>
</file>

<file path=customXml/itemProps1.xml><?xml version="1.0" encoding="utf-8"?>
<ds:datastoreItem xmlns:ds="http://schemas.openxmlformats.org/officeDocument/2006/customXml" ds:itemID="{69FF6ACD-EE1E-485E-A732-7F72A5E6DC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7F66E1F-6821-4584-98D3-FE37E67CC6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b4a50c-b9ed-43fd-8758-f8a292ceab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F7EB07-A07C-4793-890A-957855B25B99}">
  <ds:schemaRefs>
    <ds:schemaRef ds:uri="74b4a50c-b9ed-43fd-8758-f8a292ceab01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5498</TotalTime>
  <Words>202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"Insurance Risk &amp; Policy Analytics Dashboard"</vt:lpstr>
      <vt:lpstr>Goal</vt:lpstr>
      <vt:lpstr>Objective 1:   How do customer demographics influence insurance choices?</vt:lpstr>
      <vt:lpstr>PowerPoint Presentation</vt:lpstr>
      <vt:lpstr>Objective 2:   What patterns exist between customer risk levels and their claim behavior?</vt:lpstr>
      <vt:lpstr>PowerPoint Presentation</vt:lpstr>
      <vt:lpstr>Objective 3:   How do customer preferences vary when it comes to communication and contact methods?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Abhay Singh Thakur</dc:creator>
  <cp:lastModifiedBy>ABHAY THAKUR</cp:lastModifiedBy>
  <cp:revision>6</cp:revision>
  <dcterms:created xsi:type="dcterms:W3CDTF">2025-05-29T19:41:40Z</dcterms:created>
  <dcterms:modified xsi:type="dcterms:W3CDTF">2026-10-04T23:56:56Z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0x0101008219E9FA11C4D44180E6DE337098D732</vt:lpwstr>
  </property>
</Properties>
</file>